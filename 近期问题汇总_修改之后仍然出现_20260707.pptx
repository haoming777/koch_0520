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M Sans"/>
      <p:regular r:id="rId12"/>
      <p:bold r:id="rId13"/>
      <p:italic r:id="rId14"/>
      <p:boldItalic r:id="rId15"/>
    </p:embeddedFont>
    <p:embeddedFont>
      <p:font typeface="Colgate Ready"/>
      <p:regular r:id="rId16"/>
      <p:bold r:id="rId17"/>
      <p:italic r:id="rId18"/>
      <p:boldItalic r:id="rId19"/>
    </p:embeddedFont>
    <p:embeddedFont>
      <p:font typeface="ColgateReady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lgateReadyLight-regular.fntdata"/><Relationship Id="rId11" Type="http://schemas.openxmlformats.org/officeDocument/2006/relationships/slide" Target="slides/slide6.xml"/><Relationship Id="rId22" Type="http://schemas.openxmlformats.org/officeDocument/2006/relationships/font" Target="fonts/ColgateReadyLight-italic.fntdata"/><Relationship Id="rId10" Type="http://schemas.openxmlformats.org/officeDocument/2006/relationships/slide" Target="slides/slide5.xml"/><Relationship Id="rId21" Type="http://schemas.openxmlformats.org/officeDocument/2006/relationships/font" Target="fonts/ColgateReadyLight-bold.fntdata"/><Relationship Id="rId13" Type="http://schemas.openxmlformats.org/officeDocument/2006/relationships/font" Target="fonts/DMSans-bold.fntdata"/><Relationship Id="rId12" Type="http://schemas.openxmlformats.org/officeDocument/2006/relationships/font" Target="fonts/DMSans-regular.fntdata"/><Relationship Id="rId23" Type="http://schemas.openxmlformats.org/officeDocument/2006/relationships/font" Target="fonts/ColgateReady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Italic.fntdata"/><Relationship Id="rId14" Type="http://schemas.openxmlformats.org/officeDocument/2006/relationships/font" Target="fonts/DMSans-italic.fntdata"/><Relationship Id="rId17" Type="http://schemas.openxmlformats.org/officeDocument/2006/relationships/font" Target="fonts/ColgateReady-bold.fntdata"/><Relationship Id="rId16" Type="http://schemas.openxmlformats.org/officeDocument/2006/relationships/font" Target="fonts/ColgateRead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lgateReady-boldItalic.fntdata"/><Relationship Id="rId6" Type="http://schemas.openxmlformats.org/officeDocument/2006/relationships/slide" Target="slides/slide1.xml"/><Relationship Id="rId18" Type="http://schemas.openxmlformats.org/officeDocument/2006/relationships/font" Target="fonts/ColgateRead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448a6540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448a6540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TEMPLATE: Cover Slide A</a:t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dc6be30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2dc6be3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TEMPLATE: </a:t>
            </a:r>
            <a:r>
              <a:rPr b="1" lang="en"/>
              <a:t>One Column</a:t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448a6540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448a654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TEMPLATE: </a:t>
            </a:r>
            <a:r>
              <a:rPr b="1" lang="en"/>
              <a:t>One Column</a:t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dc6be3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2dc6be3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TEMPLATE: </a:t>
            </a:r>
            <a:r>
              <a:rPr b="1" lang="en"/>
              <a:t>One Column</a:t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dc6be3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2dc6be3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TEMPLATE: </a:t>
            </a:r>
            <a:r>
              <a:rPr b="1" lang="en"/>
              <a:t>One Column</a:t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dc6be30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2dc6be3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TEMPLATE: </a:t>
            </a:r>
            <a:r>
              <a:rPr b="1" lang="en"/>
              <a:t>One Column</a:t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USTOM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7362016" y="3817728"/>
            <a:ext cx="3100038" cy="1552981"/>
          </a:xfrm>
          <a:custGeom>
            <a:rect b="b" l="l" r="r" t="t"/>
            <a:pathLst>
              <a:path extrusionOk="0" h="1174277" w="2344074">
                <a:moveTo>
                  <a:pt x="2344075" y="0"/>
                </a:moveTo>
                <a:lnTo>
                  <a:pt x="2344075" y="0"/>
                </a:lnTo>
                <a:cubicBezTo>
                  <a:pt x="2344075" y="0"/>
                  <a:pt x="1633973" y="0"/>
                  <a:pt x="1633973" y="0"/>
                </a:cubicBezTo>
                <a:cubicBezTo>
                  <a:pt x="1633973" y="256122"/>
                  <a:pt x="1426766" y="463721"/>
                  <a:pt x="1171128" y="463721"/>
                </a:cubicBezTo>
                <a:cubicBezTo>
                  <a:pt x="915490" y="463721"/>
                  <a:pt x="708283" y="256122"/>
                  <a:pt x="708283" y="0"/>
                </a:cubicBezTo>
                <a:lnTo>
                  <a:pt x="0" y="0"/>
                </a:lnTo>
                <a:cubicBezTo>
                  <a:pt x="0" y="648526"/>
                  <a:pt x="524759" y="1174278"/>
                  <a:pt x="1172059" y="1174278"/>
                </a:cubicBezTo>
                <a:cubicBezTo>
                  <a:pt x="1819360" y="1174278"/>
                  <a:pt x="2344075" y="648526"/>
                  <a:pt x="23440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2979" l="33216" r="1335" t="0"/>
          <a:stretch/>
        </p:blipFill>
        <p:spPr>
          <a:xfrm>
            <a:off x="0" y="484600"/>
            <a:ext cx="4640748" cy="465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5036100" y="922150"/>
            <a:ext cx="3975900" cy="19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6100" y="2995575"/>
            <a:ext cx="2669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Photo 2">
  <p:cSld name="CUSTOM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-1987835" y="-637057"/>
            <a:ext cx="6373500" cy="637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5036100" y="922150"/>
            <a:ext cx="3975900" cy="19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036100" y="2995575"/>
            <a:ext cx="2669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>
            <p:ph idx="2" type="pic"/>
          </p:nvPr>
        </p:nvSpPr>
        <p:spPr>
          <a:xfrm>
            <a:off x="-1636975" y="-286200"/>
            <a:ext cx="5671800" cy="56718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59726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CUSTOM_8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13397" t="0"/>
          <a:stretch/>
        </p:blipFill>
        <p:spPr>
          <a:xfrm>
            <a:off x="7932775" y="86350"/>
            <a:ext cx="1211223" cy="9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085625"/>
            <a:ext cx="78519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Graph content">
  <p:cSld name="CUSTOM_8_5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13397" t="0"/>
          <a:stretch/>
        </p:blipFill>
        <p:spPr>
          <a:xfrm>
            <a:off x="7932775" y="86350"/>
            <a:ext cx="1211223" cy="9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58700" y="1618425"/>
            <a:ext cx="2030700" cy="11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solidFill>
                  <a:srgbClr val="59595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roduct 2 1">
  <p:cSld name="CUSTOM_8_2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/>
          <p:nvPr>
            <p:ph idx="2" type="pic"/>
          </p:nvPr>
        </p:nvSpPr>
        <p:spPr>
          <a:xfrm>
            <a:off x="453875" y="1655850"/>
            <a:ext cx="2488200" cy="1831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2" name="Google Shape;32;p6"/>
          <p:cNvSpPr/>
          <p:nvPr>
            <p:ph idx="3" type="pic"/>
          </p:nvPr>
        </p:nvSpPr>
        <p:spPr>
          <a:xfrm>
            <a:off x="3228225" y="1655850"/>
            <a:ext cx="2488200" cy="1831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3" name="Google Shape;33;p6"/>
          <p:cNvSpPr/>
          <p:nvPr>
            <p:ph idx="4" type="pic"/>
          </p:nvPr>
        </p:nvSpPr>
        <p:spPr>
          <a:xfrm>
            <a:off x="6091850" y="1655850"/>
            <a:ext cx="2488200" cy="1831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>
  <p:cSld name="CUSTOM_8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0" l="0" r="13397" t="0"/>
          <a:stretch/>
        </p:blipFill>
        <p:spPr>
          <a:xfrm>
            <a:off x="7932775" y="86350"/>
            <a:ext cx="1211223" cy="9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11700" y="1085625"/>
            <a:ext cx="35838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348975" y="1085625"/>
            <a:ext cx="35838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0" name="Google Shape;4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CUSTOM_8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11700" y="1085625"/>
            <a:ext cx="24114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3138425" y="1085625"/>
            <a:ext cx="24114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5965150" y="1085625"/>
            <a:ext cx="24114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photo 2">
  <p:cSld name="CUSTOM_8_1_1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>
            <p:ph idx="2" type="pic"/>
          </p:nvPr>
        </p:nvSpPr>
        <p:spPr>
          <a:xfrm>
            <a:off x="5335438" y="1289875"/>
            <a:ext cx="5872500" cy="327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11700" y="1085625"/>
            <a:ext cx="42189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b="0" l="0" r="13397" t="0"/>
          <a:stretch/>
        </p:blipFill>
        <p:spPr>
          <a:xfrm>
            <a:off x="7932775" y="86350"/>
            <a:ext cx="1211223" cy="9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hoto">
  <p:cSld name="CUSTOM_10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>
            <p:ph idx="2" type="pic"/>
          </p:nvPr>
        </p:nvSpPr>
        <p:spPr>
          <a:xfrm>
            <a:off x="0" y="1201650"/>
            <a:ext cx="9144000" cy="394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+ logo">
  <p:cSld name="CUSTOM_10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2601" y="4729597"/>
            <a:ext cx="1172449" cy="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LANK_1">
    <p:bg>
      <p:bgPr>
        <a:solidFill>
          <a:schemeClr val="accent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358700" y="1642225"/>
            <a:ext cx="6022200" cy="24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2" name="Google Shape;6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3613" y="4729575"/>
            <a:ext cx="1170432" cy="14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25" y="4663237"/>
            <a:ext cx="1229051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61">
          <p15:clr>
            <a:srgbClr val="FA7B17"/>
          </p15:clr>
        </p15:guide>
        <p15:guide id="3" pos="214">
          <p15:clr>
            <a:srgbClr val="FA7B17"/>
          </p15:clr>
        </p15:guide>
        <p15:guide id="4" pos="5555">
          <p15:clr>
            <a:srgbClr val="FA7B17"/>
          </p15:clr>
        </p15:guide>
        <p15:guide id="5" orient="horz" pos="217">
          <p15:clr>
            <a:srgbClr val="FA7B17"/>
          </p15:clr>
        </p15:guide>
        <p15:guide id="6" orient="horz" pos="3061">
          <p15:clr>
            <a:srgbClr val="FA7B17"/>
          </p15:clr>
        </p15:guide>
        <p15:guide id="7" pos="621">
          <p15:clr>
            <a:srgbClr val="FA7B17"/>
          </p15:clr>
        </p15:guide>
        <p15:guide id="8" pos="659">
          <p15:clr>
            <a:srgbClr val="FA7B17"/>
          </p15:clr>
        </p15:guide>
        <p15:guide id="9" pos="1070">
          <p15:clr>
            <a:srgbClr val="FA7B17"/>
          </p15:clr>
        </p15:guide>
        <p15:guide id="10" pos="1103">
          <p15:clr>
            <a:srgbClr val="FA7B17"/>
          </p15:clr>
        </p15:guide>
        <p15:guide id="11" pos="1519">
          <p15:clr>
            <a:srgbClr val="FA7B17"/>
          </p15:clr>
        </p15:guide>
        <p15:guide id="12" pos="1552">
          <p15:clr>
            <a:srgbClr val="FA7B17"/>
          </p15:clr>
        </p15:guide>
        <p15:guide id="13" pos="1964">
          <p15:clr>
            <a:srgbClr val="FA7B17"/>
          </p15:clr>
        </p15:guide>
        <p15:guide id="14" pos="2001">
          <p15:clr>
            <a:srgbClr val="FA7B17"/>
          </p15:clr>
        </p15:guide>
        <p15:guide id="15" pos="2898">
          <p15:clr>
            <a:srgbClr val="FA7B17"/>
          </p15:clr>
        </p15:guide>
        <p15:guide id="16" pos="3309">
          <p15:clr>
            <a:srgbClr val="FA7B17"/>
          </p15:clr>
        </p15:guide>
        <p15:guide id="17" pos="3345">
          <p15:clr>
            <a:srgbClr val="FA7B17"/>
          </p15:clr>
        </p15:guide>
        <p15:guide id="18" pos="3761">
          <p15:clr>
            <a:srgbClr val="FA7B17"/>
          </p15:clr>
        </p15:guide>
        <p15:guide id="19" pos="3797">
          <p15:clr>
            <a:srgbClr val="FA7B17"/>
          </p15:clr>
        </p15:guide>
        <p15:guide id="20" pos="4207">
          <p15:clr>
            <a:srgbClr val="FA7B17"/>
          </p15:clr>
        </p15:guide>
        <p15:guide id="21" pos="4243">
          <p15:clr>
            <a:srgbClr val="FA7B17"/>
          </p15:clr>
        </p15:guide>
        <p15:guide id="22" pos="4657">
          <p15:clr>
            <a:srgbClr val="FA7B17"/>
          </p15:clr>
        </p15:guide>
        <p15:guide id="23" pos="4691">
          <p15:clr>
            <a:srgbClr val="FA7B17"/>
          </p15:clr>
        </p15:guide>
        <p15:guide id="24" pos="5103">
          <p15:clr>
            <a:srgbClr val="FA7B17"/>
          </p15:clr>
        </p15:guide>
        <p15:guide id="25" pos="5140">
          <p15:clr>
            <a:srgbClr val="FA7B17"/>
          </p15:clr>
        </p15:guide>
        <p15:guide id="26" pos="2415">
          <p15:clr>
            <a:srgbClr val="FA7B17"/>
          </p15:clr>
        </p15:guide>
        <p15:guide id="27" pos="2451">
          <p15:clr>
            <a:srgbClr val="FA7B17"/>
          </p15:clr>
        </p15:guide>
        <p15:guide id="28" pos="379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1_1_1_1_1_1_1_1_1_1_1_1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61">
          <p15:clr>
            <a:srgbClr val="FA7B17"/>
          </p15:clr>
        </p15:guide>
        <p15:guide id="3" pos="214">
          <p15:clr>
            <a:srgbClr val="FA7B17"/>
          </p15:clr>
        </p15:guide>
        <p15:guide id="4" pos="5555">
          <p15:clr>
            <a:srgbClr val="FA7B17"/>
          </p15:clr>
        </p15:guide>
        <p15:guide id="5" orient="horz" pos="217">
          <p15:clr>
            <a:srgbClr val="FA7B17"/>
          </p15:clr>
        </p15:guide>
        <p15:guide id="6" orient="horz" pos="3061">
          <p15:clr>
            <a:srgbClr val="FA7B17"/>
          </p15:clr>
        </p15:guide>
        <p15:guide id="7" pos="621">
          <p15:clr>
            <a:srgbClr val="FA7B17"/>
          </p15:clr>
        </p15:guide>
        <p15:guide id="8" pos="659">
          <p15:clr>
            <a:srgbClr val="FA7B17"/>
          </p15:clr>
        </p15:guide>
        <p15:guide id="9" pos="1070">
          <p15:clr>
            <a:srgbClr val="FA7B17"/>
          </p15:clr>
        </p15:guide>
        <p15:guide id="10" pos="1103">
          <p15:clr>
            <a:srgbClr val="FA7B17"/>
          </p15:clr>
        </p15:guide>
        <p15:guide id="11" pos="1519">
          <p15:clr>
            <a:srgbClr val="FA7B17"/>
          </p15:clr>
        </p15:guide>
        <p15:guide id="12" pos="1552">
          <p15:clr>
            <a:srgbClr val="FA7B17"/>
          </p15:clr>
        </p15:guide>
        <p15:guide id="13" pos="1964">
          <p15:clr>
            <a:srgbClr val="FA7B17"/>
          </p15:clr>
        </p15:guide>
        <p15:guide id="14" pos="2001">
          <p15:clr>
            <a:srgbClr val="FA7B17"/>
          </p15:clr>
        </p15:guide>
        <p15:guide id="15" pos="2898">
          <p15:clr>
            <a:srgbClr val="FA7B17"/>
          </p15:clr>
        </p15:guide>
        <p15:guide id="16" pos="3309">
          <p15:clr>
            <a:srgbClr val="FA7B17"/>
          </p15:clr>
        </p15:guide>
        <p15:guide id="17" pos="3345">
          <p15:clr>
            <a:srgbClr val="FA7B17"/>
          </p15:clr>
        </p15:guide>
        <p15:guide id="18" pos="3761">
          <p15:clr>
            <a:srgbClr val="FA7B17"/>
          </p15:clr>
        </p15:guide>
        <p15:guide id="19" pos="3797">
          <p15:clr>
            <a:srgbClr val="FA7B17"/>
          </p15:clr>
        </p15:guide>
        <p15:guide id="20" pos="4207">
          <p15:clr>
            <a:srgbClr val="FA7B17"/>
          </p15:clr>
        </p15:guide>
        <p15:guide id="21" pos="4243">
          <p15:clr>
            <a:srgbClr val="FA7B17"/>
          </p15:clr>
        </p15:guide>
        <p15:guide id="22" pos="4657">
          <p15:clr>
            <a:srgbClr val="FA7B17"/>
          </p15:clr>
        </p15:guide>
        <p15:guide id="23" pos="4691">
          <p15:clr>
            <a:srgbClr val="FA7B17"/>
          </p15:clr>
        </p15:guide>
        <p15:guide id="24" pos="5103">
          <p15:clr>
            <a:srgbClr val="FA7B17"/>
          </p15:clr>
        </p15:guide>
        <p15:guide id="25" pos="5140">
          <p15:clr>
            <a:srgbClr val="FA7B17"/>
          </p15:clr>
        </p15:guide>
        <p15:guide id="26" pos="2415">
          <p15:clr>
            <a:srgbClr val="FA7B17"/>
          </p15:clr>
        </p15:guide>
        <p15:guide id="27" pos="2451">
          <p15:clr>
            <a:srgbClr val="FA7B17"/>
          </p15:clr>
        </p15:guide>
        <p15:guide id="28" pos="3796">
          <p15:clr>
            <a:srgbClr val="FA7B17"/>
          </p15:clr>
        </p15:guide>
        <p15:guide id="29" orient="horz" pos="162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2">
    <p:bg>
      <p:bgPr>
        <a:gradFill>
          <a:gsLst>
            <a:gs pos="0">
              <a:srgbClr val="F7F3F1"/>
            </a:gs>
            <a:gs pos="100000">
              <a:srgbClr val="EAE1DD"/>
            </a:gs>
          </a:gsLst>
          <a:lin ang="8100019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8924795" y="4979096"/>
            <a:ext cx="2193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en" sz="500" u="none" cap="none" strike="noStrike">
                <a:solidFill>
                  <a:schemeClr val="dk1"/>
                </a:solidFill>
                <a:latin typeface="Colgate Ready"/>
                <a:ea typeface="Colgate Ready"/>
                <a:cs typeface="Colgate Ready"/>
                <a:sym typeface="Colgate Ready"/>
              </a:rPr>
              <a:t>‹#›</a:t>
            </a:fld>
            <a:endParaRPr i="0" sz="500" u="none" cap="none" strike="noStrike">
              <a:solidFill>
                <a:schemeClr val="dk1"/>
              </a:solidFill>
              <a:latin typeface="Colgate Ready"/>
              <a:ea typeface="Colgate Ready"/>
              <a:cs typeface="Colgate Ready"/>
              <a:sym typeface="Colgate Ready"/>
            </a:endParaRPr>
          </a:p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555875" y="4916613"/>
            <a:ext cx="1990200" cy="1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chemeClr val="dk1"/>
                </a:solidFill>
                <a:latin typeface="ColgateReady Light"/>
                <a:ea typeface="ColgateReady Light"/>
                <a:cs typeface="ColgateReady Light"/>
                <a:sym typeface="ColgateReady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799538"/>
            <a:ext cx="594652" cy="38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b="1"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036100" y="1425625"/>
            <a:ext cx="3554400" cy="15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近期问题汇总</a:t>
            </a:r>
            <a:endParaRPr b="1" sz="3800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8"/>
          <p:cNvSpPr txBox="1"/>
          <p:nvPr>
            <p:ph idx="4294967295" type="subTitle"/>
          </p:nvPr>
        </p:nvSpPr>
        <p:spPr>
          <a:xfrm>
            <a:off x="5036100" y="3031350"/>
            <a:ext cx="2669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2"/>
                </a:solidFill>
              </a:rPr>
              <a:t>20260701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主程序</a:t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13350" y="1086775"/>
            <a:ext cx="7851900" cy="25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解决卡顿问题(界面经常不刷新，点不动，怀疑也会影响ng图片的存储和信号给出)(</a:t>
            </a:r>
            <a:r>
              <a:rPr lang="en">
                <a:solidFill>
                  <a:schemeClr val="accent5"/>
                </a:solidFill>
              </a:rPr>
              <a:t>现在不卡了，可以点动</a:t>
            </a:r>
            <a:r>
              <a:rPr lang="en"/>
              <a:t>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注：不是硬件问题，换了CPU以后峰值占用率不到70%，内存也只用了一半不到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裁图比</a:t>
            </a:r>
            <a:r>
              <a:rPr lang="en"/>
              <a:t>例：上下端面，左右都设置一个裁图比列，裁图比列要与界面上所选关联(</a:t>
            </a:r>
            <a:r>
              <a:rPr lang="en">
                <a:solidFill>
                  <a:srgbClr val="FF9900"/>
                </a:solidFill>
              </a:rPr>
              <a:t>待验证</a:t>
            </a:r>
            <a:r>
              <a:rPr lang="en"/>
              <a:t>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/>
          <p:nvPr/>
        </p:nvSpPr>
        <p:spPr>
          <a:xfrm>
            <a:off x="7557975" y="3150575"/>
            <a:ext cx="2359034" cy="2353001"/>
          </a:xfrm>
          <a:custGeom>
            <a:rect b="b" l="l" r="r" t="t"/>
            <a:pathLst>
              <a:path extrusionOk="0" h="1206667" w="1206667">
                <a:moveTo>
                  <a:pt x="834878" y="46164"/>
                </a:moveTo>
                <a:lnTo>
                  <a:pt x="371790" y="1160504"/>
                </a:lnTo>
                <a:moveTo>
                  <a:pt x="1160504" y="834878"/>
                </a:moveTo>
                <a:lnTo>
                  <a:pt x="46164" y="371790"/>
                </a:lnTo>
                <a:moveTo>
                  <a:pt x="1160988" y="373060"/>
                </a:moveTo>
                <a:lnTo>
                  <a:pt x="45680" y="833607"/>
                </a:lnTo>
                <a:moveTo>
                  <a:pt x="833607" y="1160988"/>
                </a:moveTo>
                <a:lnTo>
                  <a:pt x="373060" y="45680"/>
                </a:lnTo>
                <a:moveTo>
                  <a:pt x="1029939" y="176729"/>
                </a:moveTo>
                <a:lnTo>
                  <a:pt x="176729" y="1029939"/>
                </a:lnTo>
                <a:moveTo>
                  <a:pt x="1029939" y="1029939"/>
                </a:moveTo>
                <a:lnTo>
                  <a:pt x="176729" y="176729"/>
                </a:lnTo>
                <a:moveTo>
                  <a:pt x="1206667" y="603334"/>
                </a:moveTo>
                <a:lnTo>
                  <a:pt x="0" y="603334"/>
                </a:lnTo>
                <a:moveTo>
                  <a:pt x="603334" y="1206667"/>
                </a:moveTo>
                <a:lnTo>
                  <a:pt x="603334" y="0"/>
                </a:lnTo>
              </a:path>
            </a:pathLst>
          </a:custGeom>
          <a:solidFill>
            <a:srgbClr val="B1F3FF"/>
          </a:solidFill>
          <a:ln cap="flat" cmpd="sng" w="952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正面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085625"/>
            <a:ext cx="78519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正面误检测，将batch推理改为单张小图推理(我修改后用c#跑了误检测图片不在发生)，注意此时预热的batch要为1</a:t>
            </a:r>
            <a:r>
              <a:rPr lang="en"/>
              <a:t>(</a:t>
            </a:r>
            <a:r>
              <a:rPr lang="en">
                <a:solidFill>
                  <a:schemeClr val="accent5"/>
                </a:solidFill>
              </a:rPr>
              <a:t>改了不误检测了</a:t>
            </a:r>
            <a:r>
              <a:rPr lang="en"/>
              <a:t>)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7557975" y="3150575"/>
            <a:ext cx="2359034" cy="2353001"/>
          </a:xfrm>
          <a:custGeom>
            <a:rect b="b" l="l" r="r" t="t"/>
            <a:pathLst>
              <a:path extrusionOk="0" h="1206667" w="1206667">
                <a:moveTo>
                  <a:pt x="834878" y="46164"/>
                </a:moveTo>
                <a:lnTo>
                  <a:pt x="371790" y="1160504"/>
                </a:lnTo>
                <a:moveTo>
                  <a:pt x="1160504" y="834878"/>
                </a:moveTo>
                <a:lnTo>
                  <a:pt x="46164" y="371790"/>
                </a:lnTo>
                <a:moveTo>
                  <a:pt x="1160988" y="373060"/>
                </a:moveTo>
                <a:lnTo>
                  <a:pt x="45680" y="833607"/>
                </a:lnTo>
                <a:moveTo>
                  <a:pt x="833607" y="1160988"/>
                </a:moveTo>
                <a:lnTo>
                  <a:pt x="373060" y="45680"/>
                </a:lnTo>
                <a:moveTo>
                  <a:pt x="1029939" y="176729"/>
                </a:moveTo>
                <a:lnTo>
                  <a:pt x="176729" y="1029939"/>
                </a:lnTo>
                <a:moveTo>
                  <a:pt x="1029939" y="1029939"/>
                </a:moveTo>
                <a:lnTo>
                  <a:pt x="176729" y="176729"/>
                </a:lnTo>
                <a:moveTo>
                  <a:pt x="1206667" y="603334"/>
                </a:moveTo>
                <a:lnTo>
                  <a:pt x="0" y="603334"/>
                </a:lnTo>
                <a:moveTo>
                  <a:pt x="603334" y="1206667"/>
                </a:moveTo>
                <a:lnTo>
                  <a:pt x="603334" y="0"/>
                </a:lnTo>
              </a:path>
            </a:pathLst>
          </a:custGeom>
          <a:solidFill>
            <a:srgbClr val="B1F3FF"/>
          </a:solidFill>
          <a:ln cap="flat" cmpd="sng" w="952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端面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085625"/>
            <a:ext cx="7851900" cy="15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●"/>
            </a:pPr>
            <a:r>
              <a:rPr lang="en"/>
              <a:t>现场观察到有数量不对的情况，怀疑是漏拍</a:t>
            </a:r>
            <a:r>
              <a:rPr lang="en">
                <a:solidFill>
                  <a:schemeClr val="accent6"/>
                </a:solidFill>
              </a:rPr>
              <a:t>(改了还是有，计算今天夜班日志，上下端面缺少字样各出现700多次，今天夜班有6000多板，相当于1/10板都缺，而原有检测日期码的相机记录的NG照片，只有不到10板是真正缺的)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7557975" y="3150575"/>
            <a:ext cx="2359034" cy="2353001"/>
          </a:xfrm>
          <a:custGeom>
            <a:rect b="b" l="l" r="r" t="t"/>
            <a:pathLst>
              <a:path extrusionOk="0" h="1206667" w="1206667">
                <a:moveTo>
                  <a:pt x="834878" y="46164"/>
                </a:moveTo>
                <a:lnTo>
                  <a:pt x="371790" y="1160504"/>
                </a:lnTo>
                <a:moveTo>
                  <a:pt x="1160504" y="834878"/>
                </a:moveTo>
                <a:lnTo>
                  <a:pt x="46164" y="371790"/>
                </a:lnTo>
                <a:moveTo>
                  <a:pt x="1160988" y="373060"/>
                </a:moveTo>
                <a:lnTo>
                  <a:pt x="45680" y="833607"/>
                </a:lnTo>
                <a:moveTo>
                  <a:pt x="833607" y="1160988"/>
                </a:moveTo>
                <a:lnTo>
                  <a:pt x="373060" y="45680"/>
                </a:lnTo>
                <a:moveTo>
                  <a:pt x="1029939" y="176729"/>
                </a:moveTo>
                <a:lnTo>
                  <a:pt x="176729" y="1029939"/>
                </a:lnTo>
                <a:moveTo>
                  <a:pt x="1029939" y="1029939"/>
                </a:moveTo>
                <a:lnTo>
                  <a:pt x="176729" y="176729"/>
                </a:lnTo>
                <a:moveTo>
                  <a:pt x="1206667" y="603334"/>
                </a:moveTo>
                <a:lnTo>
                  <a:pt x="0" y="603334"/>
                </a:lnTo>
                <a:moveTo>
                  <a:pt x="603334" y="1206667"/>
                </a:moveTo>
                <a:lnTo>
                  <a:pt x="603334" y="0"/>
                </a:lnTo>
              </a:path>
            </a:pathLst>
          </a:custGeom>
          <a:solidFill>
            <a:srgbClr val="B1F3FF"/>
          </a:solidFill>
          <a:ln cap="flat" cmpd="sng" w="952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背</a:t>
            </a:r>
            <a:r>
              <a:rPr lang="en"/>
              <a:t>面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085625"/>
            <a:ext cx="78519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新增背面破损识别，方法同正面</a:t>
            </a:r>
            <a:r>
              <a:rPr lang="en">
                <a:solidFill>
                  <a:schemeClr val="accent6"/>
                </a:solidFill>
              </a:rPr>
              <a:t>(还没有)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/>
          <p:nvPr/>
        </p:nvSpPr>
        <p:spPr>
          <a:xfrm>
            <a:off x="7557975" y="3150575"/>
            <a:ext cx="2359034" cy="2353001"/>
          </a:xfrm>
          <a:custGeom>
            <a:rect b="b" l="l" r="r" t="t"/>
            <a:pathLst>
              <a:path extrusionOk="0" h="1206667" w="1206667">
                <a:moveTo>
                  <a:pt x="834878" y="46164"/>
                </a:moveTo>
                <a:lnTo>
                  <a:pt x="371790" y="1160504"/>
                </a:lnTo>
                <a:moveTo>
                  <a:pt x="1160504" y="834878"/>
                </a:moveTo>
                <a:lnTo>
                  <a:pt x="46164" y="371790"/>
                </a:lnTo>
                <a:moveTo>
                  <a:pt x="1160988" y="373060"/>
                </a:moveTo>
                <a:lnTo>
                  <a:pt x="45680" y="833607"/>
                </a:lnTo>
                <a:moveTo>
                  <a:pt x="833607" y="1160988"/>
                </a:moveTo>
                <a:lnTo>
                  <a:pt x="373060" y="45680"/>
                </a:lnTo>
                <a:moveTo>
                  <a:pt x="1029939" y="176729"/>
                </a:moveTo>
                <a:lnTo>
                  <a:pt x="176729" y="1029939"/>
                </a:lnTo>
                <a:moveTo>
                  <a:pt x="1029939" y="1029939"/>
                </a:moveTo>
                <a:lnTo>
                  <a:pt x="176729" y="176729"/>
                </a:lnTo>
                <a:moveTo>
                  <a:pt x="1206667" y="603334"/>
                </a:moveTo>
                <a:lnTo>
                  <a:pt x="0" y="603334"/>
                </a:lnTo>
                <a:moveTo>
                  <a:pt x="603334" y="1206667"/>
                </a:moveTo>
                <a:lnTo>
                  <a:pt x="603334" y="0"/>
                </a:lnTo>
              </a:path>
            </a:pathLst>
          </a:custGeom>
          <a:solidFill>
            <a:srgbClr val="B1F3FF"/>
          </a:solidFill>
          <a:ln cap="flat" cmpd="sng" w="952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38363"/>
            <a:ext cx="641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侧面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085625"/>
            <a:ext cx="78519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解决漏拍问题，目前是12P，侧面经常出现拍不到12个的情况</a:t>
            </a:r>
            <a:r>
              <a:rPr lang="en">
                <a:solidFill>
                  <a:schemeClr val="accent6"/>
                </a:solidFill>
              </a:rPr>
              <a:t>(改了还是有，计算今天夜班日志，左右侧面缺少字样各出现700多次，不正常)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现场观察到没有盒子也在来回运动</a:t>
            </a:r>
            <a:r>
              <a:rPr lang="en">
                <a:solidFill>
                  <a:srgbClr val="FF9900"/>
                </a:solidFill>
              </a:rPr>
              <a:t>(待继续观察)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存下来的渲染图，需要横向显示，而且里面发现会有OK图片，或者显示“？”的</a:t>
            </a:r>
            <a:r>
              <a:rPr lang="en">
                <a:solidFill>
                  <a:schemeClr val="accent6"/>
                </a:solidFill>
              </a:rPr>
              <a:t>(改了还是OK照片)</a:t>
            </a:r>
            <a:endParaRPr>
              <a:solidFill>
                <a:schemeClr val="accent6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/>
              <a:t>侧面的模组拍照不及时</a:t>
            </a:r>
            <a:r>
              <a:rPr lang="en">
                <a:solidFill>
                  <a:schemeClr val="accent6"/>
                </a:solidFill>
              </a:rPr>
              <a:t>(改了还是有)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7557975" y="3150575"/>
            <a:ext cx="2359034" cy="2353001"/>
          </a:xfrm>
          <a:custGeom>
            <a:rect b="b" l="l" r="r" t="t"/>
            <a:pathLst>
              <a:path extrusionOk="0" h="1206667" w="1206667">
                <a:moveTo>
                  <a:pt x="834878" y="46164"/>
                </a:moveTo>
                <a:lnTo>
                  <a:pt x="371790" y="1160504"/>
                </a:lnTo>
                <a:moveTo>
                  <a:pt x="1160504" y="834878"/>
                </a:moveTo>
                <a:lnTo>
                  <a:pt x="46164" y="371790"/>
                </a:lnTo>
                <a:moveTo>
                  <a:pt x="1160988" y="373060"/>
                </a:moveTo>
                <a:lnTo>
                  <a:pt x="45680" y="833607"/>
                </a:lnTo>
                <a:moveTo>
                  <a:pt x="833607" y="1160988"/>
                </a:moveTo>
                <a:lnTo>
                  <a:pt x="373060" y="45680"/>
                </a:lnTo>
                <a:moveTo>
                  <a:pt x="1029939" y="176729"/>
                </a:moveTo>
                <a:lnTo>
                  <a:pt x="176729" y="1029939"/>
                </a:lnTo>
                <a:moveTo>
                  <a:pt x="1029939" y="1029939"/>
                </a:moveTo>
                <a:lnTo>
                  <a:pt x="176729" y="176729"/>
                </a:lnTo>
                <a:moveTo>
                  <a:pt x="1206667" y="603334"/>
                </a:moveTo>
                <a:lnTo>
                  <a:pt x="0" y="603334"/>
                </a:lnTo>
                <a:moveTo>
                  <a:pt x="603334" y="1206667"/>
                </a:moveTo>
                <a:lnTo>
                  <a:pt x="603334" y="0"/>
                </a:lnTo>
              </a:path>
            </a:pathLst>
          </a:custGeom>
          <a:solidFill>
            <a:srgbClr val="B1F3FF"/>
          </a:solidFill>
          <a:ln cap="flat" cmpd="sng" w="952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Q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68FF"/>
      </a:accent1>
      <a:accent2>
        <a:srgbClr val="002A46"/>
      </a:accent2>
      <a:accent3>
        <a:srgbClr val="ABC2DB"/>
      </a:accent3>
      <a:accent4>
        <a:srgbClr val="ABE8D0"/>
      </a:accent4>
      <a:accent5>
        <a:srgbClr val="00CA8F"/>
      </a:accent5>
      <a:accent6>
        <a:srgbClr val="FF4C4C"/>
      </a:accent6>
      <a:hlink>
        <a:srgbClr val="E1D0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